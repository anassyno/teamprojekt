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78" r:id="rId7"/>
    <p:sldId id="280" r:id="rId8"/>
    <p:sldId id="279" r:id="rId9"/>
    <p:sldId id="281" r:id="rId10"/>
    <p:sldId id="282" r:id="rId11"/>
    <p:sldId id="283" r:id="rId12"/>
    <p:sldId id="284" r:id="rId13"/>
    <p:sldId id="285" r:id="rId14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12EB1-0AA5-4637-AC10-35644F141C81}" v="96" dt="2026-07-08T08:27:54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de-DE" sz="1300" b="0" i="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Projektumfeld, Projektauslöser und die strategischen Ziele für das relationale Datenmodell ohne unnötigen Ballast.</a:t>
          </a:r>
          <a:endParaRPr lang="de-DE" sz="1300" b="0" i="0" kern="1200" cap="all" noProof="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de-DE" noProof="0" dirty="0"/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de-DE" noProof="0" dirty="0"/>
        </a:p>
      </dgm:t>
    </dgm:pt>
    <dgm:pt modelId="{49225C73-1633-42F1-AB3B-7CB183E5F8B8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de-DE" b="0" i="0" dirty="0"/>
            <a:t>Analyse des IST-Zustands, SOLL-Konzept, IHK-Zeitplanung (40h) und der formale ERD-Entwurf nach Systemnormen.</a:t>
          </a:r>
          <a:endParaRPr lang="de-DE" noProof="0" dirty="0"/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de-DE" noProof="0" dirty="0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de-DE" noProof="0" dirty="0"/>
        </a:p>
      </dgm:t>
    </dgm:pt>
    <dgm:pt modelId="{1C383F32-22E8-4F62-A3E0-BDC3D5F48992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de-DE" b="0" i="0" dirty="0"/>
            <a:t>Physische SQL-Implementierung (DDL), relationale Verknüpfungen, komplexe Verbund-Tests und zeitlicher Soll/Ist-Vergleich.</a:t>
          </a:r>
          <a:endParaRPr lang="de-DE" noProof="0" dirty="0"/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de-DE" noProof="0" dirty="0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de-DE" noProof="0" dirty="0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>
        <a:solidFill>
          <a:schemeClr val="accent1"/>
        </a:solidFill>
      </dgm:spPr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>
        <a:solidFill>
          <a:schemeClr val="accent1"/>
        </a:solidFill>
      </dgm:spPr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>
        <a:solidFill>
          <a:schemeClr val="accent1"/>
        </a:solidFill>
      </dgm:spPr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49225C73-1633-42F1-AB3B-7CB183E5F8B8}">
      <dgm:prSet custT="1"/>
      <dgm:spPr/>
      <dgm:t>
        <a:bodyPr rtlCol="0"/>
        <a:lstStyle/>
        <a:p>
          <a:pPr algn="ctr" rtl="0">
            <a:lnSpc>
              <a:spcPct val="100000"/>
            </a:lnSpc>
            <a:defRPr cap="all"/>
          </a:pPr>
          <a:r>
            <a:rPr lang="de-DE" sz="1200" dirty="0"/>
            <a:t>Direkte Speicherung des Kaufpreises zum Bestellzeitpunkt. Nachträgliche Preisänderungen im Artikelfortbestand verfälschen somit keine historischen Umsatzdaten.</a:t>
          </a:r>
          <a:endParaRPr lang="de-DE" sz="1200" noProof="0" dirty="0"/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de-DE" noProof="0" dirty="0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de-DE" noProof="0" dirty="0"/>
        </a:p>
      </dgm:t>
    </dgm:pt>
    <dgm:pt modelId="{1C383F32-22E8-4F62-A3E0-BDC3D5F48992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de-DE" dirty="0"/>
            <a:t>Bereitstellung optimierter Verbundabfragen (Joins) zur direkten Identifikation von Umsatztreibern, Kaufverhalten (Top-/Bottom-Kunden) und Lieferantenperformance.</a:t>
          </a:r>
          <a:endParaRPr lang="de-DE" noProof="0" dirty="0"/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de-DE" noProof="0" dirty="0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de-DE" noProof="0" dirty="0"/>
        </a:p>
      </dgm:t>
    </dgm:pt>
    <dgm:pt modelId="{40FC4FFE-8987-4A26-B7F4-8A516F18ADAE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de-DE" sz="1200" b="0" i="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Einhaltung der 3. Normalform (3NF) für redundanzfreie Speicherung aller Kunden-, Bestell- und Lieferprozesse.</a:t>
          </a:r>
          <a:endParaRPr lang="de-DE" sz="1200" b="0" i="0" kern="1200" cap="all" noProof="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de-DE" noProof="0" dirty="0"/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de-DE" noProof="0" dirty="0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 custLinFactNeighborX="-1668"/>
      <dgm:spPr>
        <a:solidFill>
          <a:schemeClr val="accent1"/>
        </a:solidFill>
      </dgm:spPr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en mit einfarbiger Füllung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>
        <a:solidFill>
          <a:schemeClr val="accent1"/>
        </a:solidFill>
      </dgm:spPr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ild Häkchen mit einfarbiger Füllung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>
        <a:solidFill>
          <a:schemeClr val="accent1"/>
        </a:solidFill>
      </dgm:spPr>
    </dgm:pt>
    <dgm:pt modelId="{39509775-983E-4110-B989-EE2CD6514BE0}" type="pres">
      <dgm:prSet presAssocID="{1C383F32-22E8-4F62-A3E0-BDC3D5F48992}" presName="iconRect" presStyleLbl="node1" presStyleIdx="2" presStyleCnt="3" custLinFactNeighborX="-290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ssgerät mit einfarbiger Füllung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39D742-7C03-450B-BD0C-E94B1CCD92F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9AAAC2-C7A0-41D5-9A95-4EFFBFAFD967}">
      <dgm:prSet/>
      <dgm:spPr/>
      <dgm:t>
        <a:bodyPr/>
        <a:lstStyle/>
        <a:p>
          <a:r>
            <a:rPr lang="de-DE" b="1" dirty="0"/>
            <a:t>× IST:</a:t>
          </a:r>
          <a:r>
            <a:rPr lang="de-DE" dirty="0"/>
            <a:t> Unkoordinierter Datenzugriff führt zu inkonsistenten Bestellständen.</a:t>
          </a:r>
          <a:endParaRPr lang="en-US" dirty="0"/>
        </a:p>
      </dgm:t>
    </dgm:pt>
    <dgm:pt modelId="{11B7D471-6A76-414A-8F2B-41C8CCA1E741}" type="parTrans" cxnId="{9396C99D-FB85-4ED8-95C5-355C66D4A608}">
      <dgm:prSet/>
      <dgm:spPr/>
      <dgm:t>
        <a:bodyPr/>
        <a:lstStyle/>
        <a:p>
          <a:endParaRPr lang="en-US"/>
        </a:p>
      </dgm:t>
    </dgm:pt>
    <dgm:pt modelId="{DB01EE83-729C-4B75-A634-AB4EFC1278D0}" type="sibTrans" cxnId="{9396C99D-FB85-4ED8-95C5-355C66D4A608}">
      <dgm:prSet/>
      <dgm:spPr/>
      <dgm:t>
        <a:bodyPr/>
        <a:lstStyle/>
        <a:p>
          <a:endParaRPr lang="en-US"/>
        </a:p>
      </dgm:t>
    </dgm:pt>
    <dgm:pt modelId="{7E47EA43-EAE8-439B-B88C-F42543934388}">
      <dgm:prSet/>
      <dgm:spPr/>
      <dgm:t>
        <a:bodyPr/>
        <a:lstStyle/>
        <a:p>
          <a:r>
            <a:rPr lang="de-DE" b="1" dirty="0"/>
            <a:t>× IST:</a:t>
          </a:r>
          <a:r>
            <a:rPr lang="de-DE" dirty="0"/>
            <a:t> Fehlende Zuordnung zwischen Lieferanten und bestellbaren Produkten.</a:t>
          </a:r>
          <a:endParaRPr lang="en-US" dirty="0"/>
        </a:p>
      </dgm:t>
    </dgm:pt>
    <dgm:pt modelId="{7FA8339A-C38A-44C9-BB19-67A4E72E2067}" type="parTrans" cxnId="{0E5F3B96-A8EC-4C99-940B-A463A19D5041}">
      <dgm:prSet/>
      <dgm:spPr/>
      <dgm:t>
        <a:bodyPr/>
        <a:lstStyle/>
        <a:p>
          <a:endParaRPr lang="en-US"/>
        </a:p>
      </dgm:t>
    </dgm:pt>
    <dgm:pt modelId="{3CE9D5DB-666B-4497-BDE9-2CF37445CFCC}" type="sibTrans" cxnId="{0E5F3B96-A8EC-4C99-940B-A463A19D5041}">
      <dgm:prSet/>
      <dgm:spPr/>
      <dgm:t>
        <a:bodyPr/>
        <a:lstStyle/>
        <a:p>
          <a:endParaRPr lang="en-US"/>
        </a:p>
      </dgm:t>
    </dgm:pt>
    <dgm:pt modelId="{B50CD882-9A3E-4633-B5E0-2170556A1A60}">
      <dgm:prSet/>
      <dgm:spPr/>
      <dgm:t>
        <a:bodyPr/>
        <a:lstStyle/>
        <a:p>
          <a:r>
            <a:rPr lang="de-DE" b="1" dirty="0"/>
            <a:t>✓ SOLL:</a:t>
          </a:r>
          <a:r>
            <a:rPr lang="de-DE" dirty="0"/>
            <a:t> Relationales DBMS sichert die Datenkonsistenz und ACID-Kriterien.</a:t>
          </a:r>
          <a:endParaRPr lang="en-US" dirty="0"/>
        </a:p>
      </dgm:t>
    </dgm:pt>
    <dgm:pt modelId="{6977038C-DB21-4E3F-A136-144C8D1A89B2}" type="parTrans" cxnId="{428E0194-0901-415F-8CB6-E5E81C2B8A12}">
      <dgm:prSet/>
      <dgm:spPr/>
      <dgm:t>
        <a:bodyPr/>
        <a:lstStyle/>
        <a:p>
          <a:endParaRPr lang="en-US"/>
        </a:p>
      </dgm:t>
    </dgm:pt>
    <dgm:pt modelId="{658E95BF-8E99-4BDF-8CBC-F40D506205A0}" type="sibTrans" cxnId="{428E0194-0901-415F-8CB6-E5E81C2B8A12}">
      <dgm:prSet/>
      <dgm:spPr/>
      <dgm:t>
        <a:bodyPr/>
        <a:lstStyle/>
        <a:p>
          <a:endParaRPr lang="en-US"/>
        </a:p>
      </dgm:t>
    </dgm:pt>
    <dgm:pt modelId="{BB526692-B257-48A6-961A-DF3BC7570F5F}">
      <dgm:prSet/>
      <dgm:spPr/>
      <dgm:t>
        <a:bodyPr/>
        <a:lstStyle/>
        <a:p>
          <a:r>
            <a:rPr lang="de-DE" b="1" dirty="0"/>
            <a:t>✓ SOLL:</a:t>
          </a:r>
          <a:r>
            <a:rPr lang="de-DE" dirty="0"/>
            <a:t> Eindeutige Zuweisung von Lieferanten zu einzelnen Produkten (1:n).</a:t>
          </a:r>
          <a:endParaRPr lang="en-US" dirty="0"/>
        </a:p>
      </dgm:t>
    </dgm:pt>
    <dgm:pt modelId="{F2CDEAC8-51D3-415A-8965-33F76BAC5039}" type="parTrans" cxnId="{BAE0089F-5C39-4438-A0AC-FED28A3DC9A2}">
      <dgm:prSet/>
      <dgm:spPr/>
      <dgm:t>
        <a:bodyPr/>
        <a:lstStyle/>
        <a:p>
          <a:endParaRPr lang="en-US"/>
        </a:p>
      </dgm:t>
    </dgm:pt>
    <dgm:pt modelId="{7C2FDF4E-0E38-45F7-8D64-035EABE6B057}" type="sibTrans" cxnId="{BAE0089F-5C39-4438-A0AC-FED28A3DC9A2}">
      <dgm:prSet/>
      <dgm:spPr/>
      <dgm:t>
        <a:bodyPr/>
        <a:lstStyle/>
        <a:p>
          <a:endParaRPr lang="en-US"/>
        </a:p>
      </dgm:t>
    </dgm:pt>
    <dgm:pt modelId="{080E7B97-3055-4EA7-B83C-8C9BC4EB245B}">
      <dgm:prSet/>
      <dgm:spPr/>
      <dgm:t>
        <a:bodyPr/>
        <a:lstStyle/>
        <a:p>
          <a:r>
            <a:rPr lang="de-DE" b="1" dirty="0"/>
            <a:t>✓ SOLL:</a:t>
          </a:r>
          <a:r>
            <a:rPr lang="de-DE" dirty="0"/>
            <a:t> Aggregiertes Tracking aller getätigten Bestellmengen je Kunde.</a:t>
          </a:r>
          <a:endParaRPr lang="en-US" dirty="0"/>
        </a:p>
      </dgm:t>
    </dgm:pt>
    <dgm:pt modelId="{8113924F-6DBC-4A2F-84D2-D09ED932C5B0}" type="parTrans" cxnId="{A5E13BE9-A043-445D-B092-CD1A2B2CAAAC}">
      <dgm:prSet/>
      <dgm:spPr/>
      <dgm:t>
        <a:bodyPr/>
        <a:lstStyle/>
        <a:p>
          <a:endParaRPr lang="en-US"/>
        </a:p>
      </dgm:t>
    </dgm:pt>
    <dgm:pt modelId="{3F0FD2D2-8ED1-41C0-B9DC-60D3ACD00E46}" type="sibTrans" cxnId="{A5E13BE9-A043-445D-B092-CD1A2B2CAAAC}">
      <dgm:prSet/>
      <dgm:spPr/>
      <dgm:t>
        <a:bodyPr/>
        <a:lstStyle/>
        <a:p>
          <a:endParaRPr lang="en-US"/>
        </a:p>
      </dgm:t>
    </dgm:pt>
    <dgm:pt modelId="{EDE4B831-AF83-43E7-BE8A-E2C2D228D659}" type="pres">
      <dgm:prSet presAssocID="{9F39D742-7C03-450B-BD0C-E94B1CCD92F5}" presName="outerComposite" presStyleCnt="0">
        <dgm:presLayoutVars>
          <dgm:chMax val="5"/>
          <dgm:dir/>
          <dgm:resizeHandles val="exact"/>
        </dgm:presLayoutVars>
      </dgm:prSet>
      <dgm:spPr/>
    </dgm:pt>
    <dgm:pt modelId="{A367A695-8426-45E7-B2DE-FB9DE5E8AE58}" type="pres">
      <dgm:prSet presAssocID="{9F39D742-7C03-450B-BD0C-E94B1CCD92F5}" presName="dummyMaxCanvas" presStyleCnt="0">
        <dgm:presLayoutVars/>
      </dgm:prSet>
      <dgm:spPr/>
    </dgm:pt>
    <dgm:pt modelId="{0C85CA16-B365-47B7-BE1A-085614F01907}" type="pres">
      <dgm:prSet presAssocID="{9F39D742-7C03-450B-BD0C-E94B1CCD92F5}" presName="FiveNodes_1" presStyleLbl="node1" presStyleIdx="0" presStyleCnt="5">
        <dgm:presLayoutVars>
          <dgm:bulletEnabled val="1"/>
        </dgm:presLayoutVars>
      </dgm:prSet>
      <dgm:spPr/>
    </dgm:pt>
    <dgm:pt modelId="{76EFA114-DE71-407C-A31C-7E382CD757B9}" type="pres">
      <dgm:prSet presAssocID="{9F39D742-7C03-450B-BD0C-E94B1CCD92F5}" presName="FiveNodes_2" presStyleLbl="node1" presStyleIdx="1" presStyleCnt="5">
        <dgm:presLayoutVars>
          <dgm:bulletEnabled val="1"/>
        </dgm:presLayoutVars>
      </dgm:prSet>
      <dgm:spPr/>
    </dgm:pt>
    <dgm:pt modelId="{4D27003A-D805-485F-846F-401E77CE958B}" type="pres">
      <dgm:prSet presAssocID="{9F39D742-7C03-450B-BD0C-E94B1CCD92F5}" presName="FiveNodes_3" presStyleLbl="node1" presStyleIdx="2" presStyleCnt="5">
        <dgm:presLayoutVars>
          <dgm:bulletEnabled val="1"/>
        </dgm:presLayoutVars>
      </dgm:prSet>
      <dgm:spPr/>
    </dgm:pt>
    <dgm:pt modelId="{72CE661E-F637-4267-A210-E3088DF3555F}" type="pres">
      <dgm:prSet presAssocID="{9F39D742-7C03-450B-BD0C-E94B1CCD92F5}" presName="FiveNodes_4" presStyleLbl="node1" presStyleIdx="3" presStyleCnt="5">
        <dgm:presLayoutVars>
          <dgm:bulletEnabled val="1"/>
        </dgm:presLayoutVars>
      </dgm:prSet>
      <dgm:spPr/>
    </dgm:pt>
    <dgm:pt modelId="{E726C599-7623-471A-B756-8A8B67E79857}" type="pres">
      <dgm:prSet presAssocID="{9F39D742-7C03-450B-BD0C-E94B1CCD92F5}" presName="FiveNodes_5" presStyleLbl="node1" presStyleIdx="4" presStyleCnt="5">
        <dgm:presLayoutVars>
          <dgm:bulletEnabled val="1"/>
        </dgm:presLayoutVars>
      </dgm:prSet>
      <dgm:spPr/>
    </dgm:pt>
    <dgm:pt modelId="{3C2828D6-7FB6-4E23-98A4-CA0D231C69A8}" type="pres">
      <dgm:prSet presAssocID="{9F39D742-7C03-450B-BD0C-E94B1CCD92F5}" presName="FiveConn_1-2" presStyleLbl="fgAccFollowNode1" presStyleIdx="0" presStyleCnt="4">
        <dgm:presLayoutVars>
          <dgm:bulletEnabled val="1"/>
        </dgm:presLayoutVars>
      </dgm:prSet>
      <dgm:spPr/>
    </dgm:pt>
    <dgm:pt modelId="{3AB1C7BA-E638-4198-AF11-4664011E8880}" type="pres">
      <dgm:prSet presAssocID="{9F39D742-7C03-450B-BD0C-E94B1CCD92F5}" presName="FiveConn_2-3" presStyleLbl="fgAccFollowNode1" presStyleIdx="1" presStyleCnt="4">
        <dgm:presLayoutVars>
          <dgm:bulletEnabled val="1"/>
        </dgm:presLayoutVars>
      </dgm:prSet>
      <dgm:spPr/>
    </dgm:pt>
    <dgm:pt modelId="{0449554E-C5D8-4C0E-96FA-4FD1C15B43ED}" type="pres">
      <dgm:prSet presAssocID="{9F39D742-7C03-450B-BD0C-E94B1CCD92F5}" presName="FiveConn_3-4" presStyleLbl="fgAccFollowNode1" presStyleIdx="2" presStyleCnt="4">
        <dgm:presLayoutVars>
          <dgm:bulletEnabled val="1"/>
        </dgm:presLayoutVars>
      </dgm:prSet>
      <dgm:spPr/>
    </dgm:pt>
    <dgm:pt modelId="{8A36E769-F16C-42F1-9050-1E34F6FC7592}" type="pres">
      <dgm:prSet presAssocID="{9F39D742-7C03-450B-BD0C-E94B1CCD92F5}" presName="FiveConn_4-5" presStyleLbl="fgAccFollowNode1" presStyleIdx="3" presStyleCnt="4">
        <dgm:presLayoutVars>
          <dgm:bulletEnabled val="1"/>
        </dgm:presLayoutVars>
      </dgm:prSet>
      <dgm:spPr/>
    </dgm:pt>
    <dgm:pt modelId="{65FEC9B1-4B35-48A3-A0B0-4FF4AFFC0F19}" type="pres">
      <dgm:prSet presAssocID="{9F39D742-7C03-450B-BD0C-E94B1CCD92F5}" presName="FiveNodes_1_text" presStyleLbl="node1" presStyleIdx="4" presStyleCnt="5">
        <dgm:presLayoutVars>
          <dgm:bulletEnabled val="1"/>
        </dgm:presLayoutVars>
      </dgm:prSet>
      <dgm:spPr/>
    </dgm:pt>
    <dgm:pt modelId="{1AB8CD06-5684-4AA2-9090-62070E0CF247}" type="pres">
      <dgm:prSet presAssocID="{9F39D742-7C03-450B-BD0C-E94B1CCD92F5}" presName="FiveNodes_2_text" presStyleLbl="node1" presStyleIdx="4" presStyleCnt="5">
        <dgm:presLayoutVars>
          <dgm:bulletEnabled val="1"/>
        </dgm:presLayoutVars>
      </dgm:prSet>
      <dgm:spPr/>
    </dgm:pt>
    <dgm:pt modelId="{9605E18A-6557-4927-8FE0-EA0ECD318D09}" type="pres">
      <dgm:prSet presAssocID="{9F39D742-7C03-450B-BD0C-E94B1CCD92F5}" presName="FiveNodes_3_text" presStyleLbl="node1" presStyleIdx="4" presStyleCnt="5">
        <dgm:presLayoutVars>
          <dgm:bulletEnabled val="1"/>
        </dgm:presLayoutVars>
      </dgm:prSet>
      <dgm:spPr/>
    </dgm:pt>
    <dgm:pt modelId="{9F4B267A-A5BA-4D56-9382-7F9F7AB3FDCE}" type="pres">
      <dgm:prSet presAssocID="{9F39D742-7C03-450B-BD0C-E94B1CCD92F5}" presName="FiveNodes_4_text" presStyleLbl="node1" presStyleIdx="4" presStyleCnt="5">
        <dgm:presLayoutVars>
          <dgm:bulletEnabled val="1"/>
        </dgm:presLayoutVars>
      </dgm:prSet>
      <dgm:spPr/>
    </dgm:pt>
    <dgm:pt modelId="{48C65804-C486-4C37-8649-6072599FF7AB}" type="pres">
      <dgm:prSet presAssocID="{9F39D742-7C03-450B-BD0C-E94B1CCD92F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BAD2512-C834-40F1-BC26-24C279DE08B9}" type="presOf" srcId="{080E7B97-3055-4EA7-B83C-8C9BC4EB245B}" destId="{48C65804-C486-4C37-8649-6072599FF7AB}" srcOrd="1" destOrd="0" presId="urn:microsoft.com/office/officeart/2005/8/layout/vProcess5"/>
    <dgm:cxn modelId="{B6D95F14-1C8C-42D9-8279-81AEBDED0417}" type="presOf" srcId="{2C9AAAC2-C7A0-41D5-9A95-4EFFBFAFD967}" destId="{0C85CA16-B365-47B7-BE1A-085614F01907}" srcOrd="0" destOrd="0" presId="urn:microsoft.com/office/officeart/2005/8/layout/vProcess5"/>
    <dgm:cxn modelId="{50B42419-B88F-4DFE-A511-3892FF65641E}" type="presOf" srcId="{BB526692-B257-48A6-961A-DF3BC7570F5F}" destId="{9F4B267A-A5BA-4D56-9382-7F9F7AB3FDCE}" srcOrd="1" destOrd="0" presId="urn:microsoft.com/office/officeart/2005/8/layout/vProcess5"/>
    <dgm:cxn modelId="{47AD5221-0EFE-4F96-8D67-3D62F560B51C}" type="presOf" srcId="{7E47EA43-EAE8-439B-B88C-F42543934388}" destId="{76EFA114-DE71-407C-A31C-7E382CD757B9}" srcOrd="0" destOrd="0" presId="urn:microsoft.com/office/officeart/2005/8/layout/vProcess5"/>
    <dgm:cxn modelId="{AC48384A-DA97-4AC4-841E-9484FB3DF320}" type="presOf" srcId="{2C9AAAC2-C7A0-41D5-9A95-4EFFBFAFD967}" destId="{65FEC9B1-4B35-48A3-A0B0-4FF4AFFC0F19}" srcOrd="1" destOrd="0" presId="urn:microsoft.com/office/officeart/2005/8/layout/vProcess5"/>
    <dgm:cxn modelId="{B0A6566E-3369-4EB2-8524-D9412A008DA1}" type="presOf" srcId="{DB01EE83-729C-4B75-A634-AB4EFC1278D0}" destId="{3C2828D6-7FB6-4E23-98A4-CA0D231C69A8}" srcOrd="0" destOrd="0" presId="urn:microsoft.com/office/officeart/2005/8/layout/vProcess5"/>
    <dgm:cxn modelId="{0A680574-C235-4F5C-AD41-5B5922BC937D}" type="presOf" srcId="{658E95BF-8E99-4BDF-8CBC-F40D506205A0}" destId="{0449554E-C5D8-4C0E-96FA-4FD1C15B43ED}" srcOrd="0" destOrd="0" presId="urn:microsoft.com/office/officeart/2005/8/layout/vProcess5"/>
    <dgm:cxn modelId="{052A8059-9C86-4C8F-A167-6FA0F30ADB88}" type="presOf" srcId="{3CE9D5DB-666B-4497-BDE9-2CF37445CFCC}" destId="{3AB1C7BA-E638-4198-AF11-4664011E8880}" srcOrd="0" destOrd="0" presId="urn:microsoft.com/office/officeart/2005/8/layout/vProcess5"/>
    <dgm:cxn modelId="{AEA12581-C514-4B4B-B3D9-A7195427D9B0}" type="presOf" srcId="{BB526692-B257-48A6-961A-DF3BC7570F5F}" destId="{72CE661E-F637-4267-A210-E3088DF3555F}" srcOrd="0" destOrd="0" presId="urn:microsoft.com/office/officeart/2005/8/layout/vProcess5"/>
    <dgm:cxn modelId="{2F53F081-4654-4E13-AA2F-BADCB916C8ED}" type="presOf" srcId="{7C2FDF4E-0E38-45F7-8D64-035EABE6B057}" destId="{8A36E769-F16C-42F1-9050-1E34F6FC7592}" srcOrd="0" destOrd="0" presId="urn:microsoft.com/office/officeart/2005/8/layout/vProcess5"/>
    <dgm:cxn modelId="{428E0194-0901-415F-8CB6-E5E81C2B8A12}" srcId="{9F39D742-7C03-450B-BD0C-E94B1CCD92F5}" destId="{B50CD882-9A3E-4633-B5E0-2170556A1A60}" srcOrd="2" destOrd="0" parTransId="{6977038C-DB21-4E3F-A136-144C8D1A89B2}" sibTransId="{658E95BF-8E99-4BDF-8CBC-F40D506205A0}"/>
    <dgm:cxn modelId="{0E5F3B96-A8EC-4C99-940B-A463A19D5041}" srcId="{9F39D742-7C03-450B-BD0C-E94B1CCD92F5}" destId="{7E47EA43-EAE8-439B-B88C-F42543934388}" srcOrd="1" destOrd="0" parTransId="{7FA8339A-C38A-44C9-BB19-67A4E72E2067}" sibTransId="{3CE9D5DB-666B-4497-BDE9-2CF37445CFCC}"/>
    <dgm:cxn modelId="{95EC2697-9A50-4D11-ACDD-1FC417E66BF3}" type="presOf" srcId="{9F39D742-7C03-450B-BD0C-E94B1CCD92F5}" destId="{EDE4B831-AF83-43E7-BE8A-E2C2D228D659}" srcOrd="0" destOrd="0" presId="urn:microsoft.com/office/officeart/2005/8/layout/vProcess5"/>
    <dgm:cxn modelId="{9396C99D-FB85-4ED8-95C5-355C66D4A608}" srcId="{9F39D742-7C03-450B-BD0C-E94B1CCD92F5}" destId="{2C9AAAC2-C7A0-41D5-9A95-4EFFBFAFD967}" srcOrd="0" destOrd="0" parTransId="{11B7D471-6A76-414A-8F2B-41C8CCA1E741}" sibTransId="{DB01EE83-729C-4B75-A634-AB4EFC1278D0}"/>
    <dgm:cxn modelId="{7E25FB9D-AB75-45AA-9B15-897547E9997F}" type="presOf" srcId="{080E7B97-3055-4EA7-B83C-8C9BC4EB245B}" destId="{E726C599-7623-471A-B756-8A8B67E79857}" srcOrd="0" destOrd="0" presId="urn:microsoft.com/office/officeart/2005/8/layout/vProcess5"/>
    <dgm:cxn modelId="{BAE0089F-5C39-4438-A0AC-FED28A3DC9A2}" srcId="{9F39D742-7C03-450B-BD0C-E94B1CCD92F5}" destId="{BB526692-B257-48A6-961A-DF3BC7570F5F}" srcOrd="3" destOrd="0" parTransId="{F2CDEAC8-51D3-415A-8965-33F76BAC5039}" sibTransId="{7C2FDF4E-0E38-45F7-8D64-035EABE6B057}"/>
    <dgm:cxn modelId="{47BD7EA2-EA1B-4F9B-B253-6544ABEDAC2E}" type="presOf" srcId="{B50CD882-9A3E-4633-B5E0-2170556A1A60}" destId="{9605E18A-6557-4927-8FE0-EA0ECD318D09}" srcOrd="1" destOrd="0" presId="urn:microsoft.com/office/officeart/2005/8/layout/vProcess5"/>
    <dgm:cxn modelId="{5A67D2CE-0613-43CF-85EB-A378B000CCDD}" type="presOf" srcId="{7E47EA43-EAE8-439B-B88C-F42543934388}" destId="{1AB8CD06-5684-4AA2-9090-62070E0CF247}" srcOrd="1" destOrd="0" presId="urn:microsoft.com/office/officeart/2005/8/layout/vProcess5"/>
    <dgm:cxn modelId="{8E6FA4D8-E1BA-47DB-BCA1-CFB2BCEBA143}" type="presOf" srcId="{B50CD882-9A3E-4633-B5E0-2170556A1A60}" destId="{4D27003A-D805-485F-846F-401E77CE958B}" srcOrd="0" destOrd="0" presId="urn:microsoft.com/office/officeart/2005/8/layout/vProcess5"/>
    <dgm:cxn modelId="{A5E13BE9-A043-445D-B092-CD1A2B2CAAAC}" srcId="{9F39D742-7C03-450B-BD0C-E94B1CCD92F5}" destId="{080E7B97-3055-4EA7-B83C-8C9BC4EB245B}" srcOrd="4" destOrd="0" parTransId="{8113924F-6DBC-4A2F-84D2-D09ED932C5B0}" sibTransId="{3F0FD2D2-8ED1-41C0-B9DC-60D3ACD00E46}"/>
    <dgm:cxn modelId="{9DC13FB0-CF0F-4992-9810-214CB917642C}" type="presParOf" srcId="{EDE4B831-AF83-43E7-BE8A-E2C2D228D659}" destId="{A367A695-8426-45E7-B2DE-FB9DE5E8AE58}" srcOrd="0" destOrd="0" presId="urn:microsoft.com/office/officeart/2005/8/layout/vProcess5"/>
    <dgm:cxn modelId="{62F1897C-5952-44B2-A23D-EF6C58490191}" type="presParOf" srcId="{EDE4B831-AF83-43E7-BE8A-E2C2D228D659}" destId="{0C85CA16-B365-47B7-BE1A-085614F01907}" srcOrd="1" destOrd="0" presId="urn:microsoft.com/office/officeart/2005/8/layout/vProcess5"/>
    <dgm:cxn modelId="{80590CB8-9562-4C6F-92DF-67E2DAEEC9BB}" type="presParOf" srcId="{EDE4B831-AF83-43E7-BE8A-E2C2D228D659}" destId="{76EFA114-DE71-407C-A31C-7E382CD757B9}" srcOrd="2" destOrd="0" presId="urn:microsoft.com/office/officeart/2005/8/layout/vProcess5"/>
    <dgm:cxn modelId="{F0DFC17F-0402-453A-BA63-6A9078D0B592}" type="presParOf" srcId="{EDE4B831-AF83-43E7-BE8A-E2C2D228D659}" destId="{4D27003A-D805-485F-846F-401E77CE958B}" srcOrd="3" destOrd="0" presId="urn:microsoft.com/office/officeart/2005/8/layout/vProcess5"/>
    <dgm:cxn modelId="{4F416C5C-CDC1-43E4-BD7F-8D751E307EAB}" type="presParOf" srcId="{EDE4B831-AF83-43E7-BE8A-E2C2D228D659}" destId="{72CE661E-F637-4267-A210-E3088DF3555F}" srcOrd="4" destOrd="0" presId="urn:microsoft.com/office/officeart/2005/8/layout/vProcess5"/>
    <dgm:cxn modelId="{ADC68512-71B9-4CEB-BD7C-EA02CB39BF0E}" type="presParOf" srcId="{EDE4B831-AF83-43E7-BE8A-E2C2D228D659}" destId="{E726C599-7623-471A-B756-8A8B67E79857}" srcOrd="5" destOrd="0" presId="urn:microsoft.com/office/officeart/2005/8/layout/vProcess5"/>
    <dgm:cxn modelId="{226A3A24-7888-4C24-8A22-FDC0A033EE8D}" type="presParOf" srcId="{EDE4B831-AF83-43E7-BE8A-E2C2D228D659}" destId="{3C2828D6-7FB6-4E23-98A4-CA0D231C69A8}" srcOrd="6" destOrd="0" presId="urn:microsoft.com/office/officeart/2005/8/layout/vProcess5"/>
    <dgm:cxn modelId="{5F2DF13D-18CC-42D8-A027-16E23921163F}" type="presParOf" srcId="{EDE4B831-AF83-43E7-BE8A-E2C2D228D659}" destId="{3AB1C7BA-E638-4198-AF11-4664011E8880}" srcOrd="7" destOrd="0" presId="urn:microsoft.com/office/officeart/2005/8/layout/vProcess5"/>
    <dgm:cxn modelId="{EBAAE5FA-942A-4479-B174-CD336A4F0751}" type="presParOf" srcId="{EDE4B831-AF83-43E7-BE8A-E2C2D228D659}" destId="{0449554E-C5D8-4C0E-96FA-4FD1C15B43ED}" srcOrd="8" destOrd="0" presId="urn:microsoft.com/office/officeart/2005/8/layout/vProcess5"/>
    <dgm:cxn modelId="{328C829B-48CB-4DEF-940E-D4FFFFADA22B}" type="presParOf" srcId="{EDE4B831-AF83-43E7-BE8A-E2C2D228D659}" destId="{8A36E769-F16C-42F1-9050-1E34F6FC7592}" srcOrd="9" destOrd="0" presId="urn:microsoft.com/office/officeart/2005/8/layout/vProcess5"/>
    <dgm:cxn modelId="{7CAD3CEA-6C15-45FE-8D76-55E4DDF01330}" type="presParOf" srcId="{EDE4B831-AF83-43E7-BE8A-E2C2D228D659}" destId="{65FEC9B1-4B35-48A3-A0B0-4FF4AFFC0F19}" srcOrd="10" destOrd="0" presId="urn:microsoft.com/office/officeart/2005/8/layout/vProcess5"/>
    <dgm:cxn modelId="{6787001A-B37B-4AF9-8E4C-F58DA799D8EF}" type="presParOf" srcId="{EDE4B831-AF83-43E7-BE8A-E2C2D228D659}" destId="{1AB8CD06-5684-4AA2-9090-62070E0CF247}" srcOrd="11" destOrd="0" presId="urn:microsoft.com/office/officeart/2005/8/layout/vProcess5"/>
    <dgm:cxn modelId="{BE5D9464-5F15-48E1-A2BC-C373945F5ACD}" type="presParOf" srcId="{EDE4B831-AF83-43E7-BE8A-E2C2D228D659}" destId="{9605E18A-6557-4927-8FE0-EA0ECD318D09}" srcOrd="12" destOrd="0" presId="urn:microsoft.com/office/officeart/2005/8/layout/vProcess5"/>
    <dgm:cxn modelId="{0A9E8243-EC96-4E28-AF00-60BFEA7F82B1}" type="presParOf" srcId="{EDE4B831-AF83-43E7-BE8A-E2C2D228D659}" destId="{9F4B267A-A5BA-4D56-9382-7F9F7AB3FDCE}" srcOrd="13" destOrd="0" presId="urn:microsoft.com/office/officeart/2005/8/layout/vProcess5"/>
    <dgm:cxn modelId="{36D7F9EE-0232-4046-8016-21799EA69211}" type="presParOf" srcId="{EDE4B831-AF83-43E7-BE8A-E2C2D228D659}" destId="{48C65804-C486-4C37-8649-6072599FF7A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b="0" i="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Projektumfeld, Projektauslöser und die strategischen Ziele für das relationale Datenmodell ohne unnötigen Ballast.</a:t>
          </a:r>
          <a:endParaRPr lang="de-DE" sz="1300" b="0" i="0" kern="1200" cap="all" noProof="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54974" y="2798862"/>
        <a:ext cx="2868750" cy="720000"/>
      </dsp:txXfrm>
    </dsp:sp>
    <dsp:sp modelId="{BCD8CDD9-0C56-4401-ADB1-8B48DAB2C96F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300" b="0" i="0" kern="1200" dirty="0"/>
            <a:t>Analyse des IST-Zustands, SOLL-Konzept, IHK-Zeitplanung (40h) und der formale ERD-Entwurf nach Systemnormen.</a:t>
          </a:r>
          <a:endParaRPr lang="de-DE" sz="1300" kern="1200" noProof="0" dirty="0"/>
        </a:p>
      </dsp:txBody>
      <dsp:txXfrm>
        <a:off x="3425756" y="2798862"/>
        <a:ext cx="2868750" cy="720000"/>
      </dsp:txXfrm>
    </dsp:sp>
    <dsp:sp modelId="{FF93E135-77D6-48A0-8871-9BC93D705D06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300" b="0" i="0" kern="1200" dirty="0"/>
            <a:t>Physische SQL-Implementierung (DDL), relationale Verknüpfungen, komplexe Verbund-Tests und zeitlicher Soll/Ist-Vergleich.</a:t>
          </a:r>
          <a:endParaRPr lang="de-DE" sz="1300" kern="1200" noProof="0" dirty="0"/>
        </a:p>
      </dsp:txBody>
      <dsp:txXfrm>
        <a:off x="6796537" y="2798862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585192" y="44761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987318" y="820550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54974" y="2742612"/>
          <a:ext cx="286875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i="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Einhaltung der 3. Normalform (3NF) für redundanzfreie Speicherung aller Kunden-, Bestell- und Lieferprozesse.</a:t>
          </a:r>
          <a:endParaRPr lang="de-DE" sz="1200" b="0" i="0" kern="1200" cap="all" noProof="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54974" y="2742612"/>
        <a:ext cx="2868750" cy="832500"/>
      </dsp:txXfrm>
    </dsp:sp>
    <dsp:sp modelId="{BCD8CDD9-0C56-4401-ADB1-8B48DAB2C96F}">
      <dsp:nvSpPr>
        <dsp:cNvPr id="0" name=""/>
        <dsp:cNvSpPr/>
      </dsp:nvSpPr>
      <dsp:spPr>
        <a:xfrm>
          <a:off x="3985162" y="44761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358099" y="820550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425756" y="2742612"/>
          <a:ext cx="286875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 dirty="0"/>
            <a:t>Direkte Speicherung des Kaufpreises zum Bestellzeitpunkt. Nachträgliche Preisänderungen im Artikelfortbestand verfälschen somit keine historischen Umsatzdaten.</a:t>
          </a:r>
          <a:endParaRPr lang="de-DE" sz="1200" kern="1200" noProof="0" dirty="0"/>
        </a:p>
      </dsp:txBody>
      <dsp:txXfrm>
        <a:off x="3425756" y="2742612"/>
        <a:ext cx="2868750" cy="832500"/>
      </dsp:txXfrm>
    </dsp:sp>
    <dsp:sp modelId="{FF93E135-77D6-48A0-8871-9BC93D705D06}">
      <dsp:nvSpPr>
        <dsp:cNvPr id="0" name=""/>
        <dsp:cNvSpPr/>
      </dsp:nvSpPr>
      <dsp:spPr>
        <a:xfrm>
          <a:off x="7355943" y="44761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7699702" y="820550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6796537" y="2742612"/>
          <a:ext cx="286875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 dirty="0"/>
            <a:t>Bereitstellung optimierter Verbundabfragen (Joins) zur direkten Identifikation von Umsatztreibern, Kaufverhalten (Top-/Bottom-Kunden) und Lieferantenperformance.</a:t>
          </a:r>
          <a:endParaRPr lang="de-DE" sz="1200" kern="1200" noProof="0" dirty="0"/>
        </a:p>
      </dsp:txBody>
      <dsp:txXfrm>
        <a:off x="6796537" y="2742612"/>
        <a:ext cx="2868750" cy="83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5CA16-B365-47B7-BE1A-085614F01907}">
      <dsp:nvSpPr>
        <dsp:cNvPr id="0" name=""/>
        <dsp:cNvSpPr/>
      </dsp:nvSpPr>
      <dsp:spPr>
        <a:xfrm>
          <a:off x="0" y="0"/>
          <a:ext cx="4372386" cy="933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× IST:</a:t>
          </a:r>
          <a:r>
            <a:rPr lang="de-DE" sz="1800" kern="1200" dirty="0"/>
            <a:t> Unkoordinierter Datenzugriff führt zu inkonsistenten Bestellständen.</a:t>
          </a:r>
          <a:endParaRPr lang="en-US" sz="1800" kern="1200" dirty="0"/>
        </a:p>
      </dsp:txBody>
      <dsp:txXfrm>
        <a:off x="27334" y="27334"/>
        <a:ext cx="3256161" cy="878568"/>
      </dsp:txXfrm>
    </dsp:sp>
    <dsp:sp modelId="{76EFA114-DE71-407C-A31C-7E382CD757B9}">
      <dsp:nvSpPr>
        <dsp:cNvPr id="0" name=""/>
        <dsp:cNvSpPr/>
      </dsp:nvSpPr>
      <dsp:spPr>
        <a:xfrm>
          <a:off x="326509" y="1062852"/>
          <a:ext cx="4372386" cy="933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× IST:</a:t>
          </a:r>
          <a:r>
            <a:rPr lang="de-DE" sz="1800" kern="1200" dirty="0"/>
            <a:t> Fehlende Zuordnung zwischen Lieferanten und bestellbaren Produkten.</a:t>
          </a:r>
          <a:endParaRPr lang="en-US" sz="1800" kern="1200" dirty="0"/>
        </a:p>
      </dsp:txBody>
      <dsp:txXfrm>
        <a:off x="353843" y="1090186"/>
        <a:ext cx="3384605" cy="878568"/>
      </dsp:txXfrm>
    </dsp:sp>
    <dsp:sp modelId="{4D27003A-D805-485F-846F-401E77CE958B}">
      <dsp:nvSpPr>
        <dsp:cNvPr id="0" name=""/>
        <dsp:cNvSpPr/>
      </dsp:nvSpPr>
      <dsp:spPr>
        <a:xfrm>
          <a:off x="653018" y="2125705"/>
          <a:ext cx="4372386" cy="933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✓ SOLL:</a:t>
          </a:r>
          <a:r>
            <a:rPr lang="de-DE" sz="1800" kern="1200" dirty="0"/>
            <a:t> Relationales DBMS sichert die Datenkonsistenz und ACID-Kriterien.</a:t>
          </a:r>
          <a:endParaRPr lang="en-US" sz="1800" kern="1200" dirty="0"/>
        </a:p>
      </dsp:txBody>
      <dsp:txXfrm>
        <a:off x="680352" y="2153039"/>
        <a:ext cx="3384605" cy="878568"/>
      </dsp:txXfrm>
    </dsp:sp>
    <dsp:sp modelId="{72CE661E-F637-4267-A210-E3088DF3555F}">
      <dsp:nvSpPr>
        <dsp:cNvPr id="0" name=""/>
        <dsp:cNvSpPr/>
      </dsp:nvSpPr>
      <dsp:spPr>
        <a:xfrm>
          <a:off x="979528" y="3188558"/>
          <a:ext cx="4372386" cy="933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✓ SOLL:</a:t>
          </a:r>
          <a:r>
            <a:rPr lang="de-DE" sz="1800" kern="1200" dirty="0"/>
            <a:t> Eindeutige Zuweisung von Lieferanten zu einzelnen Produkten (1:n).</a:t>
          </a:r>
          <a:endParaRPr lang="en-US" sz="1800" kern="1200" dirty="0"/>
        </a:p>
      </dsp:txBody>
      <dsp:txXfrm>
        <a:off x="1006862" y="3215892"/>
        <a:ext cx="3384605" cy="878568"/>
      </dsp:txXfrm>
    </dsp:sp>
    <dsp:sp modelId="{E726C599-7623-471A-B756-8A8B67E79857}">
      <dsp:nvSpPr>
        <dsp:cNvPr id="0" name=""/>
        <dsp:cNvSpPr/>
      </dsp:nvSpPr>
      <dsp:spPr>
        <a:xfrm>
          <a:off x="1306037" y="4251411"/>
          <a:ext cx="4372386" cy="933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✓ SOLL:</a:t>
          </a:r>
          <a:r>
            <a:rPr lang="de-DE" sz="1800" kern="1200" dirty="0"/>
            <a:t> Aggregiertes Tracking aller getätigten Bestellmengen je Kunde.</a:t>
          </a:r>
          <a:endParaRPr lang="en-US" sz="1800" kern="1200" dirty="0"/>
        </a:p>
      </dsp:txBody>
      <dsp:txXfrm>
        <a:off x="1333371" y="4278745"/>
        <a:ext cx="3384605" cy="878568"/>
      </dsp:txXfrm>
    </dsp:sp>
    <dsp:sp modelId="{3C2828D6-7FB6-4E23-98A4-CA0D231C69A8}">
      <dsp:nvSpPr>
        <dsp:cNvPr id="0" name=""/>
        <dsp:cNvSpPr/>
      </dsp:nvSpPr>
      <dsp:spPr>
        <a:xfrm>
          <a:off x="3765782" y="681781"/>
          <a:ext cx="606603" cy="60660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902268" y="681781"/>
        <a:ext cx="333631" cy="456469"/>
      </dsp:txXfrm>
    </dsp:sp>
    <dsp:sp modelId="{3AB1C7BA-E638-4198-AF11-4664011E8880}">
      <dsp:nvSpPr>
        <dsp:cNvPr id="0" name=""/>
        <dsp:cNvSpPr/>
      </dsp:nvSpPr>
      <dsp:spPr>
        <a:xfrm>
          <a:off x="4092292" y="1744634"/>
          <a:ext cx="606603" cy="60660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228778" y="1744634"/>
        <a:ext cx="333631" cy="456469"/>
      </dsp:txXfrm>
    </dsp:sp>
    <dsp:sp modelId="{0449554E-C5D8-4C0E-96FA-4FD1C15B43ED}">
      <dsp:nvSpPr>
        <dsp:cNvPr id="0" name=""/>
        <dsp:cNvSpPr/>
      </dsp:nvSpPr>
      <dsp:spPr>
        <a:xfrm>
          <a:off x="4418801" y="2791932"/>
          <a:ext cx="606603" cy="60660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555287" y="2791932"/>
        <a:ext cx="333631" cy="456469"/>
      </dsp:txXfrm>
    </dsp:sp>
    <dsp:sp modelId="{8A36E769-F16C-42F1-9050-1E34F6FC7592}">
      <dsp:nvSpPr>
        <dsp:cNvPr id="0" name=""/>
        <dsp:cNvSpPr/>
      </dsp:nvSpPr>
      <dsp:spPr>
        <a:xfrm>
          <a:off x="4745310" y="3865155"/>
          <a:ext cx="606603" cy="60660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881796" y="3865155"/>
        <a:ext cx="333631" cy="456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Symbolliste mit Kreisbezeichnungen"/>
  <dgm:desc val="Hiermit zeigen Sie nicht sequenzielle oder gruppierte Informationsblöcke begleitet von einem zugehörigen visuellen Element an. Eignet sich am besten für Symbole oder kleine Bilder mit kurzen Textbeschriftungen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Symbolliste mit Kreisbezeichnungen"/>
  <dgm:desc val="Hiermit zeigen Sie nicht sequenzielle oder gruppierte Informationsblöcke begleitet von einem zugehörigen visuellen Element an. Eignet sich am besten für Symbole oder kleine Bilder mit kurzen Textbeschriftungen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08.07.2026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08.07.2026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5A42-6F39-84B4-C82E-606CE03D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8546C86-9CC1-0119-F43E-578A378FC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18B6BA-DAE5-C9CF-F5D0-D0F2EFA33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873A4D-49D5-1FC0-0E7F-B6F6FAA7D1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908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1" name="Ellips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88FC6F8F-5002-4D94-A3C0-B6AB2DF62D27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  <p:cxnSp>
        <p:nvCxnSpPr>
          <p:cNvPr id="8" name="Gerader Verbinde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11D247-BF25-4313-848F-0A6FFDC42CC3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Ellips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3CEAD4-1021-4B35-8BEC-0363D8DA6A57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  <p:cxnSp>
        <p:nvCxnSpPr>
          <p:cNvPr id="8" name="Gerader Verbinde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DE884-BDB3-4445-9C7C-427638C7C80D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235473-FEB4-4673-9FA8-147CB48494B0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72DBD2-9956-48DD-B433-972316F0D390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600A1-B4CA-4F63-8D09-F7DBA6E64CEA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23E022-A1A1-4E4C-B902-14F8D62BE84E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FB6D58-F84C-4882-B265-0A468AAE9816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de-DE" noProof="0" smtClean="0"/>
              <a:t>‹Nr.›</a:t>
            </a:fld>
            <a:endParaRPr lang="de-DE" noProof="0" dirty="0"/>
          </a:p>
        </p:txBody>
      </p:sp>
      <p:cxnSp>
        <p:nvCxnSpPr>
          <p:cNvPr id="8" name="Gerader Verbinde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F26CF-3A7C-4631-A8BF-38458B0B5AD3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56F5FC-E12D-4883-A900-D8F749C16886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de-DE" noProof="0" smtClean="0"/>
              <a:t>‹Nr.›</a:t>
            </a:fld>
            <a:endParaRPr lang="de-DE" noProof="0" dirty="0"/>
          </a:p>
        </p:txBody>
      </p:sp>
      <p:cxnSp>
        <p:nvCxnSpPr>
          <p:cNvPr id="7" name="Gerader Verbinde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9E3617B5-9D3A-4290-B029-5215CF6190BB}" type="datetime1">
              <a:rPr lang="de-DE" noProof="0" smtClean="0"/>
              <a:t>08.07.2026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cxnSp>
        <p:nvCxnSpPr>
          <p:cNvPr id="7" name="Gerader Verbinde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5" name="Bild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0197" y="4569342"/>
            <a:ext cx="7501651" cy="1090938"/>
          </a:xfrm>
        </p:spPr>
        <p:txBody>
          <a:bodyPr rtlCol="0" anchor="b">
            <a:normAutofit fontScale="90000"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 E-Commerce Bestellungen &amp; LIEFERPROZESSE</a:t>
            </a:r>
            <a:br>
              <a:rPr lang="de-DE" b="1" dirty="0">
                <a:solidFill>
                  <a:schemeClr val="bg1"/>
                </a:solidFill>
              </a:rPr>
            </a:br>
            <a:br>
              <a:rPr lang="de-DE" dirty="0">
                <a:solidFill>
                  <a:schemeClr val="bg1"/>
                </a:solidFill>
              </a:rPr>
            </a:b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 fontScale="92500" lnSpcReduction="20000"/>
          </a:bodyPr>
          <a:lstStyle/>
          <a:p>
            <a:pPr rtl="0"/>
            <a:r>
              <a:rPr lang="de-DE" dirty="0">
                <a:solidFill>
                  <a:srgbClr val="FFFFFF"/>
                </a:solidFill>
              </a:rPr>
              <a:t>Implementierung, Normalisierung und Abfragedesign einer relationalen SQL-Datenbank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96DEAB06-3629-1B1B-328A-A457E7ECF230}"/>
              </a:ext>
            </a:extLst>
          </p:cNvPr>
          <p:cNvSpPr/>
          <p:nvPr/>
        </p:nvSpPr>
        <p:spPr>
          <a:xfrm>
            <a:off x="3377909" y="5797475"/>
            <a:ext cx="5144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ZEMERTIGI GmbH</a:t>
            </a:r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de-DE" dirty="0"/>
              <a:t>Projekt Agenda im Überblick</a:t>
            </a:r>
          </a:p>
        </p:txBody>
      </p:sp>
      <p:graphicFrame>
        <p:nvGraphicFramePr>
          <p:cNvPr id="5" name="Inhaltsplatzhalter 2" descr="SmartArt-Grafikplatzhalt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02681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CF262EE5-99B7-99ED-466D-988CB6F9B717}"/>
              </a:ext>
            </a:extLst>
          </p:cNvPr>
          <p:cNvSpPr txBox="1"/>
          <p:nvPr/>
        </p:nvSpPr>
        <p:spPr>
          <a:xfrm>
            <a:off x="1799471" y="4756484"/>
            <a:ext cx="210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  <a:buNone/>
            </a:pPr>
            <a:r>
              <a:rPr lang="de-DE" b="1" dirty="0"/>
              <a:t>1. Einleitung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CA8851E-7E1E-A1FB-4DEA-AA76CA4B6421}"/>
              </a:ext>
            </a:extLst>
          </p:cNvPr>
          <p:cNvSpPr txBox="1"/>
          <p:nvPr/>
        </p:nvSpPr>
        <p:spPr>
          <a:xfrm>
            <a:off x="4815191" y="4756484"/>
            <a:ext cx="2256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2. Planung &amp; Entwurf</a:t>
            </a:r>
          </a:p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92DDDFA-0963-C64C-0FB6-B1D0749A4AF9}"/>
              </a:ext>
            </a:extLst>
          </p:cNvPr>
          <p:cNvSpPr txBox="1"/>
          <p:nvPr/>
        </p:nvSpPr>
        <p:spPr>
          <a:xfrm>
            <a:off x="8142051" y="4756484"/>
            <a:ext cx="225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3. Umsetzung &amp; Fazit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  <p:bldP spid="3" grpId="0"/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17E7A-A0AC-6874-BE64-130F8D95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de-DE" dirty="0"/>
              <a:t>Projektumfeld &amp; Auslöser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162A12-B66C-0EA0-53C0-008397BBE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r>
              <a:rPr lang="de-DE" b="1" dirty="0"/>
              <a:t>Das Projektumfeld</a:t>
            </a:r>
          </a:p>
          <a:p>
            <a:r>
              <a:rPr lang="de-DE" dirty="0"/>
              <a:t>Unser E-Commerce-Modul bildet den operativen Kern für digitale Abwicklungen.</a:t>
            </a:r>
          </a:p>
          <a:p>
            <a:r>
              <a:rPr lang="de-DE" dirty="0"/>
              <a:t>Das zu entwickelnde relationale Datenbanksystem fokussiert sich rein auf die Kernprozesse: Bestellungen, Produkt-Kategorisierungen, Kundendaten und die Zuordnung der Lieferantenbeziehungen.</a:t>
            </a:r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B3C095B-0595-9F8B-B34E-CAA81FB15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r>
              <a:rPr lang="de-DE" b="1" dirty="0"/>
              <a:t>Der Projektauslöser</a:t>
            </a:r>
          </a:p>
          <a:p>
            <a:r>
              <a:rPr lang="de-DE" dirty="0"/>
              <a:t>Durch das bewusste Weglassen des komplexen Wareneingangs/Inventars liegt der Fokus auf der Lösung bisheriger Ineffizienzen:</a:t>
            </a:r>
          </a:p>
          <a:p>
            <a:r>
              <a:rPr lang="de-DE" dirty="0"/>
              <a:t>Fehlende referenzielle Integrität bei gelöschten Datensätzen, inkonsistente Lieferantenanschriften und chaotische Auftragszuordnungen in unstrukturierten Einzeltabellen.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7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4ADE0-CC9D-AC45-DE82-FDC121CE5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5526BE-1BAC-E909-D3E1-3A7A05BB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de-DE" dirty="0"/>
              <a:t>Die Projektziele im Detail</a:t>
            </a:r>
          </a:p>
        </p:txBody>
      </p:sp>
      <p:graphicFrame>
        <p:nvGraphicFramePr>
          <p:cNvPr id="5" name="Inhaltsplatzhalter 2" descr="SmartArt-Grafikplatzhalter">
            <a:extLst>
              <a:ext uri="{FF2B5EF4-FFF2-40B4-BE49-F238E27FC236}">
                <a16:creationId xmlns:a16="http://schemas.microsoft.com/office/drawing/2014/main" id="{0F5C5DD8-73F8-36CB-D230-9DE46F97E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629184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156112F-0BB3-DD6B-AEE5-58B1794633F9}"/>
              </a:ext>
            </a:extLst>
          </p:cNvPr>
          <p:cNvSpPr txBox="1"/>
          <p:nvPr/>
        </p:nvSpPr>
        <p:spPr>
          <a:xfrm>
            <a:off x="1447800" y="4756484"/>
            <a:ext cx="2109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1. Datenkonsistenz</a:t>
            </a:r>
          </a:p>
          <a:p>
            <a:pPr lvl="0">
              <a:lnSpc>
                <a:spcPct val="100000"/>
              </a:lnSpc>
              <a:buNone/>
            </a:pPr>
            <a:endParaRPr lang="de-DE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C2C9FC0-8A3E-E3FF-6DE9-79168E53549C}"/>
              </a:ext>
            </a:extLst>
          </p:cNvPr>
          <p:cNvSpPr txBox="1"/>
          <p:nvPr/>
        </p:nvSpPr>
        <p:spPr>
          <a:xfrm>
            <a:off x="4815191" y="4756485"/>
            <a:ext cx="2459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2. Historische Integrität</a:t>
            </a:r>
          </a:p>
          <a:p>
            <a:r>
              <a:rPr lang="de-DE" b="1" dirty="0"/>
              <a:t> </a:t>
            </a:r>
          </a:p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87AC357-1384-3C38-9A6E-036657B9DDF0}"/>
              </a:ext>
            </a:extLst>
          </p:cNvPr>
          <p:cNvSpPr txBox="1"/>
          <p:nvPr/>
        </p:nvSpPr>
        <p:spPr>
          <a:xfrm>
            <a:off x="7916780" y="4756484"/>
            <a:ext cx="3251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3. Analytische Auswertbarkeit</a:t>
            </a:r>
          </a:p>
          <a:p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893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868700F-DD65-014B-C6D5-09D695E5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 dirty="0"/>
              <a:t>Die Zeitplanung</a:t>
            </a:r>
            <a:endParaRPr lang="en-US" dirty="0"/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41F9FF2B-2387-59B4-58F0-999406CD1A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126987"/>
              </p:ext>
            </p:extLst>
          </p:nvPr>
        </p:nvGraphicFramePr>
        <p:xfrm>
          <a:off x="1024128" y="1686560"/>
          <a:ext cx="10800000" cy="412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314">
                  <a:extLst>
                    <a:ext uri="{9D8B030D-6E8A-4147-A177-3AD203B41FA5}">
                      <a16:colId xmlns:a16="http://schemas.microsoft.com/office/drawing/2014/main" val="1261537306"/>
                    </a:ext>
                  </a:extLst>
                </a:gridCol>
                <a:gridCol w="7573386">
                  <a:extLst>
                    <a:ext uri="{9D8B030D-6E8A-4147-A177-3AD203B41FA5}">
                      <a16:colId xmlns:a16="http://schemas.microsoft.com/office/drawing/2014/main" val="1114727424"/>
                    </a:ext>
                  </a:extLst>
                </a:gridCol>
                <a:gridCol w="1185300">
                  <a:extLst>
                    <a:ext uri="{9D8B030D-6E8A-4147-A177-3AD203B41FA5}">
                      <a16:colId xmlns:a16="http://schemas.microsoft.com/office/drawing/2014/main" val="2389935038"/>
                    </a:ext>
                  </a:extLst>
                </a:gridCol>
              </a:tblGrid>
              <a:tr h="753380">
                <a:tc>
                  <a:txBody>
                    <a:bodyPr/>
                    <a:lstStyle/>
                    <a:p>
                      <a:pPr algn="ctr"/>
                      <a:r>
                        <a:rPr lang="de-DE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Projektphase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Aktivitäten &amp; geplante </a:t>
                      </a:r>
                      <a:r>
                        <a:rPr lang="de-DE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Deliverables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Geplante Zeit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199191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r>
                        <a:rPr lang="de-DE" dirty="0"/>
                        <a:t>1. Analyse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IST-Analyse und Ausarbeitung des SOLL-Konzepts für Bestellvorgänge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 Std.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94302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r>
                        <a:rPr lang="de-DE" dirty="0"/>
                        <a:t>2. Entwurfs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Datenmodellierung (ERD) und logische Normalisierung auf 3NF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 Std.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953858"/>
                  </a:ext>
                </a:extLst>
              </a:tr>
              <a:tr h="476324">
                <a:tc>
                  <a:txBody>
                    <a:bodyPr/>
                    <a:lstStyle/>
                    <a:p>
                      <a:r>
                        <a:rPr lang="de-DE" dirty="0"/>
                        <a:t>3. Implementierung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Schreiben des DDL/DML-Skripts und Befüllen mit relationalen Testdaten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 Std.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12429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r>
                        <a:rPr lang="de-DE" dirty="0"/>
                        <a:t>4. Qualitäts-Tests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Umfangreiche Prüfung komplexer Verbundabfragen (JOINs, Aggregationen)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 Std.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433535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r>
                        <a:rPr lang="de-DE" dirty="0"/>
                        <a:t>5. Problemanalyse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Korrektur von Syntax-Fehlern und Behebung von Constraint-Konflikten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 Std.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383254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r>
                        <a:rPr lang="de-DE" dirty="0"/>
                        <a:t>6. Dokumentation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Ausarbeitung der Projektdokumentation nach IHK-Richtlinien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 Std.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672839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r>
                        <a:rPr lang="de-DE" b="1" dirty="0"/>
                        <a:t>Gesamtvolumen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Einhaltung des offiziellen IHK-Zeitbudgets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40 Std.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06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63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63DECE-5A86-2802-A31A-BA334A30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kern="1200" cap="all" spc="100" baseline="0" dirty="0">
                <a:latin typeface="+mj-lt"/>
                <a:ea typeface="+mj-ea"/>
                <a:cs typeface="+mj-cs"/>
              </a:rPr>
              <a:t>IST-Analyse vs. SOLL-Konzept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E15BCD3-5CB4-9AE8-4940-6F586146F1DB}"/>
              </a:ext>
            </a:extLst>
          </p:cNvPr>
          <p:cNvSpPr txBox="1"/>
          <p:nvPr/>
        </p:nvSpPr>
        <p:spPr>
          <a:xfrm>
            <a:off x="1024128" y="2257506"/>
            <a:ext cx="4389120" cy="3762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de-DE" sz="3200" u="sng" kern="1200" cap="all" dirty="0">
                <a:latin typeface="+mn-lt"/>
                <a:ea typeface="+mn-ea"/>
                <a:cs typeface="+mn-cs"/>
              </a:rPr>
              <a:t>Modernisierung der Systemarchitektur</a:t>
            </a:r>
            <a:br>
              <a:rPr lang="de-DE" sz="3200" u="sng" kern="1200" cap="all" dirty="0">
                <a:latin typeface="+mn-lt"/>
                <a:ea typeface="+mn-ea"/>
                <a:cs typeface="+mn-cs"/>
              </a:rPr>
            </a:br>
            <a:br>
              <a:rPr lang="de-DE" sz="3200" u="sng" kern="1200" cap="all" dirty="0">
                <a:latin typeface="+mn-lt"/>
                <a:ea typeface="+mn-ea"/>
                <a:cs typeface="+mn-cs"/>
              </a:rPr>
            </a:br>
            <a:r>
              <a:rPr lang="de-DE" sz="2400" dirty="0"/>
              <a:t>Ablösung von Excel durch eine skalierbare relationale SQL-Datenbank.</a:t>
            </a:r>
            <a:endParaRPr lang="de-DE" sz="2400" u="sng" kern="1200" cap="all" dirty="0">
              <a:latin typeface="+mn-lt"/>
              <a:ea typeface="+mn-ea"/>
              <a:cs typeface="+mn-cs"/>
            </a:endParaRPr>
          </a:p>
          <a:p>
            <a:pPr defTabSz="914400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de-DE" sz="1600" kern="12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55DAD72F-DA5D-E987-7C57-EE60699C7D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496273"/>
              </p:ext>
            </p:extLst>
          </p:nvPr>
        </p:nvGraphicFramePr>
        <p:xfrm>
          <a:off x="5715000" y="822960"/>
          <a:ext cx="5678424" cy="5184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60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6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F482A4-3CEF-2DC3-8359-B906BBE0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Datenbank-Entwurf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069D6A-6AB0-DA68-A7CC-A4467A919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 b="1" dirty="0"/>
              <a:t>Kategorie (1) zu Produkt (n):</a:t>
            </a:r>
            <a:r>
              <a:rPr lang="de-DE" dirty="0"/>
              <a:t> Klares Einpflegen aller Artikel in logische Segmente über die KaID.</a:t>
            </a:r>
          </a:p>
          <a:p>
            <a:r>
              <a:rPr lang="de-DE" b="1" dirty="0"/>
              <a:t>Lieferant (1) zu Produkt (n):</a:t>
            </a:r>
            <a:r>
              <a:rPr lang="de-DE" dirty="0"/>
              <a:t> Direkte Zuordnung der Lieferanten über </a:t>
            </a:r>
            <a:r>
              <a:rPr lang="de-DE" dirty="0" err="1"/>
              <a:t>LiID</a:t>
            </a:r>
            <a:r>
              <a:rPr lang="de-DE" dirty="0"/>
              <a:t> zur Optimierung der Lieferprozesse.</a:t>
            </a:r>
          </a:p>
          <a:p>
            <a:r>
              <a:rPr lang="de-DE" b="1" dirty="0"/>
              <a:t>Zusammengesetzter PK (Bestellung):</a:t>
            </a:r>
            <a:r>
              <a:rPr lang="de-DE" dirty="0"/>
              <a:t> Primärschlüssel aus </a:t>
            </a:r>
            <a:r>
              <a:rPr lang="de-DE" b="1" dirty="0" err="1"/>
              <a:t>PrID</a:t>
            </a:r>
            <a:r>
              <a:rPr lang="de-DE" b="1" dirty="0"/>
              <a:t>, </a:t>
            </a:r>
            <a:r>
              <a:rPr lang="de-DE" b="1" dirty="0" err="1"/>
              <a:t>KuID</a:t>
            </a:r>
            <a:r>
              <a:rPr lang="de-DE" b="1" dirty="0"/>
              <a:t> und Datum</a:t>
            </a:r>
            <a:r>
              <a:rPr lang="de-DE" dirty="0"/>
              <a:t> sichert Eindeutigkeit.</a:t>
            </a:r>
          </a:p>
          <a:p>
            <a:r>
              <a:rPr lang="de-DE" b="1" dirty="0"/>
              <a:t>3. Normalform:</a:t>
            </a:r>
            <a:r>
              <a:rPr lang="de-DE" dirty="0"/>
              <a:t> Alle Nicht-Schlüsselattribute hängen voll funktional nur vom Primärschlüssel ab.</a:t>
            </a:r>
          </a:p>
          <a:p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5B3857D-EFD4-44CF-3F8B-B5B3AF354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000" y="1533375"/>
            <a:ext cx="5678488" cy="37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6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4EE4F-3B31-8628-A308-011FA7FD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7581392" cy="1737360"/>
          </a:xfrm>
        </p:spPr>
        <p:txBody>
          <a:bodyPr/>
          <a:lstStyle/>
          <a:p>
            <a:r>
              <a:rPr lang="de-DE" dirty="0"/>
              <a:t>Datenbank-Implementierung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DCD5902-E0B6-2F19-B3CD-5EA50AA11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9" y="2342468"/>
            <a:ext cx="5203952" cy="15796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A359531-9757-1CDB-65AF-5AF4E885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31011"/>
            <a:ext cx="5465096" cy="197375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7734543-B747-6EAE-5F79-1A969DF731B5}"/>
              </a:ext>
            </a:extLst>
          </p:cNvPr>
          <p:cNvSpPr txBox="1"/>
          <p:nvPr/>
        </p:nvSpPr>
        <p:spPr>
          <a:xfrm>
            <a:off x="6553200" y="2342468"/>
            <a:ext cx="4378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PRODUKT TABELLE MIT FREMDSCHLÜSSELN</a:t>
            </a:r>
          </a:p>
          <a:p>
            <a:r>
              <a:rPr lang="de-DE" sz="1400" dirty="0"/>
              <a:t>Verknüpft die Stammdaten (Kategorie &amp; Lieferant) über deklarierte Fremdschlüssel (Foreign Keys).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90D330D-39C3-9ECD-60F1-FC64CD85080F}"/>
              </a:ext>
            </a:extLst>
          </p:cNvPr>
          <p:cNvCxnSpPr>
            <a:cxnSpLocks/>
          </p:cNvCxnSpPr>
          <p:nvPr/>
        </p:nvCxnSpPr>
        <p:spPr>
          <a:xfrm flipH="1">
            <a:off x="5527040" y="2629185"/>
            <a:ext cx="970280" cy="2090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BF44B819-2061-F84B-1899-096AB27F5522}"/>
              </a:ext>
            </a:extLst>
          </p:cNvPr>
          <p:cNvSpPr txBox="1"/>
          <p:nvPr/>
        </p:nvSpPr>
        <p:spPr>
          <a:xfrm>
            <a:off x="822960" y="4226560"/>
            <a:ext cx="5080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BESTELLTABELLE MIT VERBUNDSCHLÜSSEL</a:t>
            </a:r>
          </a:p>
          <a:p>
            <a:r>
              <a:rPr lang="de-DE" sz="1400" dirty="0"/>
              <a:t>Die Bestellungen verknüpfen Kunden und Produkte n:m. Ein zusammengesetzter Primärschlüssel (Verbundschlüssel) garantiert die Eindeutigkeit pro Tag.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B8B6C46-6C6B-54F2-FE4F-41506A98EC2A}"/>
              </a:ext>
            </a:extLst>
          </p:cNvPr>
          <p:cNvCxnSpPr>
            <a:cxnSpLocks/>
          </p:cNvCxnSpPr>
          <p:nvPr/>
        </p:nvCxnSpPr>
        <p:spPr>
          <a:xfrm>
            <a:off x="4892040" y="4426288"/>
            <a:ext cx="1120140" cy="2331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09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A5723-41A6-3F86-93CB-F5DBDA04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de-DE" dirty="0"/>
              <a:t>Komplexe SQL-Abfragen &amp; Tests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02BC6DB6-5B84-37D0-3CED-F7872BBC6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543052"/>
            <a:ext cx="5295392" cy="163611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B440EF-602F-76D1-BCC8-8FA0E2526F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25"/>
          <a:stretch>
            <a:fillRect/>
          </a:stretch>
        </p:blipFill>
        <p:spPr>
          <a:xfrm>
            <a:off x="1412239" y="4439539"/>
            <a:ext cx="3967768" cy="158534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5EC8704-3564-19D3-BAA3-E563F6387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520" y="2543052"/>
            <a:ext cx="5287113" cy="129558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BCA025F-C884-CC08-BFE5-D673CF9E6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238" y="4439539"/>
            <a:ext cx="1711401" cy="151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1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BDD9EC-F347-1A45-BB0D-609FCA60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Soll/Ist Zeitvergleich (Evaluation)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4A4E110-486A-1C3E-D7F6-3DE85A01D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926" y="2286000"/>
            <a:ext cx="9474285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051_TF22378848.potx" id="{0DF01297-B667-4CDC-AA01-93DDD544AF65}" vid="{09B86540-B41D-42E9-BA95-47A6BAC2769B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purl.org/dc/dcmitype/"/>
    <ds:schemaRef ds:uri="http://purl.org/dc/elements/1.1/"/>
    <ds:schemaRef ds:uri="http://purl.org/dc/terms/"/>
    <ds:schemaRef ds:uri="71af3243-3dd4-4a8d-8c0d-dd76da1f02a5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Integrales Design</Template>
  <TotalTime>0</TotalTime>
  <Words>535</Words>
  <Application>Microsoft Office PowerPoint</Application>
  <PresentationFormat>Breitbild</PresentationFormat>
  <Paragraphs>72</Paragraphs>
  <Slides>10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Calibri</vt:lpstr>
      <vt:lpstr>Tw Cen MT</vt:lpstr>
      <vt:lpstr>Tw Cen MT Condensed</vt:lpstr>
      <vt:lpstr>Wingdings 3</vt:lpstr>
      <vt:lpstr>Integral</vt:lpstr>
      <vt:lpstr> E-Commerce Bestellungen &amp; LIEFERPROZESSE  </vt:lpstr>
      <vt:lpstr>Projekt Agenda im Überblick</vt:lpstr>
      <vt:lpstr>Projektumfeld &amp; Auslöser</vt:lpstr>
      <vt:lpstr>Die Projektziele im Detail</vt:lpstr>
      <vt:lpstr>Die Zeitplanung</vt:lpstr>
      <vt:lpstr>IST-Analyse vs. SOLL-Konzept</vt:lpstr>
      <vt:lpstr>Datenbank-Entwurf</vt:lpstr>
      <vt:lpstr>Datenbank-Implementierung</vt:lpstr>
      <vt:lpstr>Komplexe SQL-Abfragen &amp; Tests</vt:lpstr>
      <vt:lpstr>Soll/Ist Zeitvergleich (Evaluation)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Jakov Bukovac</dc:creator>
  <cp:lastModifiedBy>Anastasios Synodinos</cp:lastModifiedBy>
  <cp:revision>3</cp:revision>
  <dcterms:created xsi:type="dcterms:W3CDTF">2026-07-07T10:05:03Z</dcterms:created>
  <dcterms:modified xsi:type="dcterms:W3CDTF">2026-07-08T08:27:54Z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